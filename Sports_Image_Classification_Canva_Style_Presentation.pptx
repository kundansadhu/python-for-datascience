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731520"/>
            <a:ext cx="1051560" cy="1051560"/>
          </a:xfrm>
          <a:prstGeom prst="ellipse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234440"/>
            <a:ext cx="502920" cy="502920"/>
          </a:xfrm>
          <a:prstGeom prst="ellipse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600200"/>
            <a:ext cx="640080" cy="640080"/>
          </a:xfrm>
          <a:prstGeom prst="ellipse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144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Comparative Analysis,</a:t>
            </a:r>
            <a:br/>
            <a:r>
              <a:t>Optimization &amp; Explainable AI</a:t>
            </a:r>
          </a:p>
          <a:p>
            <a:pPr>
              <a:defRPr sz="2300" b="1">
                <a:solidFill>
                  <a:srgbClr val="56CCF2"/>
                </a:solidFill>
                <a:latin typeface="Arial"/>
              </a:defRPr>
            </a:pPr>
            <a:r>
              <a:t>Sports Image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703320"/>
            <a:ext cx="359746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AD7E8"/>
                </a:solidFill>
              </a:defRPr>
            </a:pPr>
            <a:r>
              <a:rPr dirty="0"/>
              <a:t>Dataset: 100 Sports Image Classification</a:t>
            </a:r>
          </a:p>
          <a:p>
            <a:pPr>
              <a:defRPr sz="1100">
                <a:solidFill>
                  <a:srgbClr val="A0B4CD"/>
                </a:solidFill>
              </a:defRPr>
            </a:pPr>
            <a:r>
              <a:rPr dirty="0"/>
              <a:t>Google </a:t>
            </a:r>
            <a:r>
              <a:rPr dirty="0" err="1"/>
              <a:t>Colab</a:t>
            </a:r>
            <a:r>
              <a:rPr dirty="0"/>
              <a:t> • TensorFlow / </a:t>
            </a:r>
            <a:r>
              <a:rPr dirty="0" err="1"/>
              <a:t>Keras</a:t>
            </a:r>
            <a:r>
              <a:rPr dirty="0"/>
              <a:t> • 100-class classification</a:t>
            </a:r>
            <a:endParaRPr lang="en-IN" dirty="0"/>
          </a:p>
          <a:p>
            <a:pPr>
              <a:defRPr sz="1100">
                <a:solidFill>
                  <a:srgbClr val="A0B4CD"/>
                </a:solidFill>
              </a:defRPr>
            </a:pPr>
            <a:endParaRPr lang="en-IN" dirty="0"/>
          </a:p>
          <a:p>
            <a:pPr>
              <a:defRPr sz="1100">
                <a:solidFill>
                  <a:srgbClr val="A0B4CD"/>
                </a:solidFill>
              </a:defRPr>
            </a:pPr>
            <a:endParaRPr dirty="0"/>
          </a:p>
          <a:p>
            <a:pPr>
              <a:defRPr sz="1100">
                <a:solidFill>
                  <a:srgbClr val="A0B4CD"/>
                </a:solidFill>
              </a:defRPr>
            </a:pPr>
            <a:r>
              <a:rPr dirty="0"/>
              <a:t>Student: </a:t>
            </a:r>
            <a:r>
              <a:rPr lang="en-IN" dirty="0"/>
              <a:t>P.KUNDAN SADHU </a:t>
            </a:r>
            <a:r>
              <a:rPr dirty="0"/>
              <a:t> </a:t>
            </a:r>
            <a:r>
              <a:rPr lang="en-IN" dirty="0"/>
              <a:t>YASWANTH</a:t>
            </a:r>
            <a:r>
              <a:rPr dirty="0"/>
              <a:t> |   Institution: </a:t>
            </a:r>
            <a:r>
              <a:rPr lang="en-IN" dirty="0"/>
              <a:t>CSE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58952" y="5166360"/>
            <a:ext cx="2560320" cy="310896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CANVA-STYLE RESEARCH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ED2"/>
                </a:solidFill>
                <a:latin typeface="Arial"/>
              </a:defRPr>
            </a:pPr>
            <a:r>
              <a:t>Sports Image Classification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Problem, Motivation &amp; Research 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234440"/>
          </a:xfrm>
          <a:prstGeom prst="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6362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Sports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64008" cy="123444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56362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14,492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13055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Images after cleaning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0" y="1417320"/>
            <a:ext cx="64008" cy="1234440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3328" y="156362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13055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Architectures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1417320"/>
            <a:ext cx="64008" cy="1234440"/>
          </a:xfrm>
          <a:prstGeom prst="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8" y="156362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70/15/15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13055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Stratified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6324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rial"/>
              </a:defRPr>
            </a:pPr>
            <a:r>
              <a:t>• Sports may share similar environments, equipment, poses and backgrounds.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rial"/>
              </a:defRPr>
            </a:pPr>
            <a:r>
              <a:t>• The study compares predictive performance together with model size and practical efficiency.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rial"/>
              </a:defRPr>
            </a:pPr>
            <a:r>
              <a:t>• A controlled benchmark supports architecture selection, optimization and explainability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108960"/>
            <a:ext cx="1417320" cy="310896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Research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61188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12B36"/>
                </a:solidFill>
                <a:latin typeface="Arial"/>
              </a:defRPr>
            </a:pPr>
            <a:r>
              <a:t>• Which model leads baseline accuracy / F1 / ROC-AUC?</a:t>
            </a:r>
          </a:p>
          <a:p>
            <a:pPr>
              <a:spcAft>
                <a:spcPts val="800"/>
              </a:spcAft>
              <a:defRPr sz="1250">
                <a:solidFill>
                  <a:srgbClr val="212B36"/>
                </a:solidFill>
                <a:latin typeface="Arial"/>
              </a:defRPr>
            </a:pPr>
            <a:r>
              <a:t>• Which model has the smallest parameter count?</a:t>
            </a:r>
          </a:p>
          <a:p>
            <a:pPr>
              <a:spcAft>
                <a:spcPts val="800"/>
              </a:spcAft>
              <a:defRPr sz="1250">
                <a:solidFill>
                  <a:srgbClr val="212B36"/>
                </a:solidFill>
                <a:latin typeface="Arial"/>
              </a:defRPr>
            </a:pPr>
            <a:r>
              <a:t>• Does CBAM improve ResNet50?</a:t>
            </a:r>
          </a:p>
          <a:p>
            <a:pPr>
              <a:spcAft>
                <a:spcPts val="800"/>
              </a:spcAft>
              <a:defRPr sz="1250">
                <a:solidFill>
                  <a:srgbClr val="212B36"/>
                </a:solidFill>
                <a:latin typeface="Arial"/>
              </a:defRPr>
            </a:pPr>
            <a:r>
              <a:t>• How does the accuracy–efficiency trade-off change?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Dataset Source &amp;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14300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63624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14,492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1417320"/>
            <a:ext cx="64008" cy="1143000"/>
          </a:xfrm>
          <a:prstGeom prst="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1563624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3055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1417320"/>
            <a:ext cx="64008" cy="1143000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13248" y="1563624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224×224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13055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Target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1417320"/>
            <a:ext cx="64008" cy="1143000"/>
          </a:xfrm>
          <a:prstGeom prst="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1563624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CC0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13055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Listed license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38360" y="1417320"/>
            <a:ext cx="64008" cy="1143000"/>
          </a:xfrm>
          <a:prstGeom prst="rect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39528" y="1563624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13055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Invalid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880360"/>
            <a:ext cx="5303520" cy="246888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154680"/>
            <a:ext cx="48463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82D"/>
                </a:solidFill>
              </a:defRPr>
            </a:pPr>
            <a:r>
              <a:t>Kaggle source</a:t>
            </a:r>
          </a:p>
          <a:p>
            <a:pPr>
              <a:spcAft>
                <a:spcPts val="600"/>
              </a:spcAft>
              <a:defRPr sz="1100">
                <a:solidFill>
                  <a:srgbClr val="212B36"/>
                </a:solidFill>
              </a:defRPr>
            </a:pPr>
            <a:r>
              <a:t>gpiosenka • 100 Sports Image Classification</a:t>
            </a:r>
          </a:p>
          <a:p>
            <a:pPr>
              <a:spcAft>
                <a:spcPts val="600"/>
              </a:spcAft>
              <a:defRPr sz="1100">
                <a:solidFill>
                  <a:srgbClr val="212B36"/>
                </a:solidFill>
              </a:defRPr>
            </a:pPr>
            <a:r>
              <a:t>https://www.kaggle.com/datasets/gpiosenka/sports-classification</a:t>
            </a:r>
          </a:p>
          <a:p>
            <a:pPr>
              <a:spcAft>
                <a:spcPts val="600"/>
              </a:spcAft>
              <a:defRPr sz="1100">
                <a:solidFill>
                  <a:srgbClr val="212B36"/>
                </a:solidFill>
              </a:defRPr>
            </a:pPr>
            <a:r>
              <a:t>Exact duplicates reported by the notebook: 0</a:t>
            </a:r>
          </a:p>
        </p:txBody>
      </p:sp>
      <p:pic>
        <p:nvPicPr>
          <p:cNvPr id="26" name="Picture 25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5120640" cy="37587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0" y="5513832"/>
            <a:ext cx="5074920" cy="310896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Sample classes from notebook: luge • curling • arm wrestling • BMX • basketball • roller derby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Dataset Cleaning &amp; 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62179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63624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1435608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182D"/>
                </a:solidFill>
              </a:defRPr>
            </a:pPr>
            <a:r>
              <a:t>File discovery</a:t>
            </a:r>
          </a:p>
          <a:p>
            <a:pPr>
              <a:defRPr sz="1030">
                <a:solidFill>
                  <a:srgbClr val="5F6C80"/>
                </a:solidFill>
              </a:defRPr>
            </a:pPr>
            <a:r>
              <a:t>Collect supported image extensions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67712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267712"/>
            <a:ext cx="64008" cy="62179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414016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80944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228600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182D"/>
                </a:solidFill>
              </a:defRPr>
            </a:pPr>
            <a:r>
              <a:t>Validity check</a:t>
            </a:r>
          </a:p>
          <a:p>
            <a:pPr>
              <a:defRPr sz="1030">
                <a:solidFill>
                  <a:srgbClr val="5F6C80"/>
                </a:solidFill>
              </a:defRPr>
            </a:pPr>
            <a:r>
              <a:t>PIL verification • 0 invalid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18104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118104"/>
            <a:ext cx="64008" cy="62179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264408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831336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3136392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182D"/>
                </a:solidFill>
              </a:defRPr>
            </a:pPr>
            <a:r>
              <a:t>Exact duplicate check</a:t>
            </a:r>
          </a:p>
          <a:p>
            <a:pPr>
              <a:defRPr sz="1030">
                <a:solidFill>
                  <a:srgbClr val="5F6C80"/>
                </a:solidFill>
              </a:defRPr>
            </a:pPr>
            <a:r>
              <a:t>SHA-256 • 0 exact duplicates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68496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968496"/>
            <a:ext cx="64008" cy="62179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114800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681728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3986783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182D"/>
                </a:solidFill>
              </a:defRPr>
            </a:pPr>
            <a:r>
              <a:t>Leakage check</a:t>
            </a:r>
          </a:p>
          <a:p>
            <a:pPr>
              <a:defRPr sz="1030">
                <a:solidFill>
                  <a:srgbClr val="5F6C80"/>
                </a:solidFill>
              </a:defRPr>
            </a:pPr>
            <a:r>
              <a:t>Split overlap checked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18888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818888"/>
            <a:ext cx="64008" cy="62179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965192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532120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83080" y="4837176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182D"/>
                </a:solidFill>
              </a:defRPr>
            </a:pPr>
            <a:r>
              <a:t>Label encoding</a:t>
            </a:r>
          </a:p>
          <a:p>
            <a:pPr>
              <a:defRPr sz="1030">
                <a:solidFill>
                  <a:srgbClr val="5F6C80"/>
                </a:solidFill>
              </a:defRPr>
            </a:pPr>
            <a:r>
              <a:t>100 classes → integer 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1417320"/>
            <a:ext cx="4846320" cy="4389120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Cleaning outcome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2560320"/>
            <a:ext cx="1828800" cy="1143000"/>
          </a:xfrm>
          <a:prstGeom prst="roundRect">
            <a:avLst/>
          </a:prstGeom>
          <a:solidFill>
            <a:srgbClr val="1C2A43"/>
          </a:solidFill>
          <a:ln>
            <a:solidFill>
              <a:srgbClr val="30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766560" y="2560320"/>
            <a:ext cx="64008" cy="1143000"/>
          </a:xfrm>
          <a:prstGeom prst="rect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67728" y="2706624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273552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CADC"/>
                </a:solidFill>
                <a:latin typeface="Arial"/>
              </a:defRPr>
            </a:pPr>
            <a:r>
              <a:t>Invalid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2560320"/>
            <a:ext cx="1920240" cy="1143000"/>
          </a:xfrm>
          <a:prstGeom prst="roundRect">
            <a:avLst/>
          </a:prstGeom>
          <a:solidFill>
            <a:srgbClr val="1C2A43"/>
          </a:solidFill>
          <a:ln>
            <a:solidFill>
              <a:srgbClr val="30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23960" y="2560320"/>
            <a:ext cx="64008" cy="114300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25128" y="2706624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327355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CADC"/>
                </a:solidFill>
                <a:latin typeface="Arial"/>
              </a:defRPr>
            </a:pPr>
            <a:r>
              <a:t>Exact duplicates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1605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Exact duplicates only are removed by hashing.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Near-duplicate detection is a future enhancement.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Preprocessing, Augmentation &amp; Data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234440" cy="310896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INPUT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Decode → 3 channels → resize 224×224 → float32.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Training: RandomFlip, Rotation 0.1, Zoom 0.15, Contrast 0.1.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Validation and test use deterministic preprocessing.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tf.data: shuffle (train) → batch 8 → prefetch(AUTOTUNE).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297680" cy="822960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TRAIN • 10,144 images •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971800"/>
            <a:ext cx="4297680" cy="822960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182D"/>
                </a:solidFill>
              </a:defRPr>
            </a:pPr>
            <a:r>
              <a:t>VALIDATION • 2,174 images •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114800"/>
            <a:ext cx="4297680" cy="822960"/>
          </a:xfrm>
          <a:prstGeom prst="round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TEST • 2,174 images •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5440680"/>
            <a:ext cx="2103120" cy="310896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STRATIFIED 70 : 15 :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Experimental Environment &amp; Baseline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71323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179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Google Colab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64008" cy="71323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4323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TensorFlow / Keras 2.20.0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92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200400"/>
            <a:ext cx="64008" cy="71323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3467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GPU available • model to insert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136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Hardware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148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114800"/>
            <a:ext cx="64008" cy="71323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2611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224×224×3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8280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5029200"/>
            <a:ext cx="64008" cy="71323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51755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7424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Batch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3716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1371600"/>
            <a:ext cx="64008" cy="71323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15179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Adam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0848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Optimizer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2860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2286000"/>
            <a:ext cx="64008" cy="71323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24323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3×10⁻⁴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9992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Learning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2004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3200400"/>
            <a:ext cx="64008" cy="71323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33467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Categorical cross-entropy + label smoothing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9136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1148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4114800"/>
            <a:ext cx="64008" cy="713232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42611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8280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Baseline epochs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0292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5029200"/>
            <a:ext cx="64008" cy="71323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0528" y="5175504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EarlyStopping + ReduceLROnPlateau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74243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Callbacks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Seven Model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5528" y="1554480"/>
            <a:ext cx="2240280" cy="310896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ResNet50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2039112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Residual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Skip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11879" y="1554480"/>
            <a:ext cx="2240280" cy="310896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ResNet50 + CBAM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039112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Attention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Channel + spatial 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28232" y="1554480"/>
            <a:ext cx="2240280" cy="310896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EfficientNetB4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Compound-scaled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Depth / width / 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44584" y="1554480"/>
            <a:ext cx="2240280" cy="310896"/>
          </a:xfrm>
          <a:prstGeom prst="round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ConvNeXt-Tiny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039112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Modern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Modern convolutional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747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8" y="3611879"/>
            <a:ext cx="2240280" cy="310896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MobileNetV2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4096511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Lightweight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Inverted residuals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4747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11879" y="3611879"/>
            <a:ext cx="2240280" cy="310896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096511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Separable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Depthwise separable convolution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4747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28232" y="3611879"/>
            <a:ext cx="2240280" cy="310896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DenseNet121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96511"/>
            <a:ext cx="2148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182D"/>
                </a:solidFill>
              </a:defRPr>
            </a:pPr>
            <a:r>
              <a:t>Dense CNN</a:t>
            </a:r>
          </a:p>
          <a:p>
            <a:pPr>
              <a:defRPr sz="950">
                <a:solidFill>
                  <a:srgbClr val="5F6C80"/>
                </a:solidFill>
              </a:defRPr>
            </a:pPr>
            <a:r>
              <a:t>Dense feature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Training &amp; Evaluation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196596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34440" y="2148840"/>
            <a:ext cx="685800" cy="685800"/>
          </a:xfrm>
          <a:prstGeom prst="ellipse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16642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0D182D"/>
                </a:solidFill>
              </a:defRPr>
            </a:pPr>
            <a:r>
              <a:t>Train</a:t>
            </a:r>
          </a:p>
          <a:p>
            <a:pPr algn="ctr">
              <a:defRPr sz="930">
                <a:solidFill>
                  <a:srgbClr val="5F6C80"/>
                </a:solidFill>
              </a:defRPr>
            </a:pPr>
            <a:r>
              <a:t>Common split + baseline settings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1920240"/>
            <a:ext cx="196596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66159" y="2148840"/>
            <a:ext cx="685800" cy="685800"/>
          </a:xfrm>
          <a:prstGeom prst="ellipse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7" y="2926080"/>
            <a:ext cx="16642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0D182D"/>
                </a:solidFill>
              </a:defRPr>
            </a:pPr>
            <a:r>
              <a:t>Validate</a:t>
            </a:r>
          </a:p>
          <a:p>
            <a:pPr algn="ctr">
              <a:defRPr sz="930">
                <a:solidFill>
                  <a:srgbClr val="5F6C80"/>
                </a:solidFill>
              </a:defRPr>
            </a:pPr>
            <a:r>
              <a:t>Early stopping / LR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920240"/>
            <a:ext cx="196596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97880" y="2148840"/>
            <a:ext cx="685800" cy="685800"/>
          </a:xfrm>
          <a:prstGeom prst="ellipse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926080"/>
            <a:ext cx="16642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0D182D"/>
                </a:solidFill>
              </a:defRPr>
            </a:pPr>
            <a:r>
              <a:t>Test</a:t>
            </a:r>
          </a:p>
          <a:p>
            <a:pPr algn="ctr">
              <a:defRPr sz="930">
                <a:solidFill>
                  <a:srgbClr val="5F6C80"/>
                </a:solidFill>
              </a:defRPr>
            </a:pPr>
            <a:r>
              <a:t>Held-out 2,174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19" y="1920240"/>
            <a:ext cx="196596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599" y="2148840"/>
            <a:ext cx="685800" cy="685800"/>
          </a:xfrm>
          <a:prstGeom prst="ellipse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7" y="2926080"/>
            <a:ext cx="16642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0D182D"/>
                </a:solidFill>
              </a:defRPr>
            </a:pPr>
            <a:r>
              <a:t>Measure</a:t>
            </a:r>
          </a:p>
          <a:p>
            <a:pPr algn="ctr">
              <a:defRPr sz="930">
                <a:solidFill>
                  <a:srgbClr val="5F6C80"/>
                </a:solidFill>
              </a:defRPr>
            </a:pPr>
            <a:r>
              <a:t>Accuracy • Precision • Recall • F1 • 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1920240"/>
            <a:ext cx="1965960" cy="2377440"/>
          </a:xfrm>
          <a:prstGeom prst="roundRect">
            <a:avLst/>
          </a:prstGeom>
          <a:solidFill>
            <a:srgbClr val="F4F7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61319" y="2148840"/>
            <a:ext cx="685800" cy="685800"/>
          </a:xfrm>
          <a:prstGeom prst="ellipse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6688" y="2926080"/>
            <a:ext cx="16642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0D182D"/>
                </a:solidFill>
              </a:defRPr>
            </a:pPr>
            <a:r>
              <a:t>Profile</a:t>
            </a:r>
          </a:p>
          <a:p>
            <a:pPr algn="ctr">
              <a:defRPr sz="930">
                <a:solidFill>
                  <a:srgbClr val="5F6C80"/>
                </a:solidFill>
              </a:defRPr>
            </a:pPr>
            <a:r>
              <a:t>Parameters • training • inference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983480"/>
            <a:ext cx="3429000" cy="310896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Evaluation on the held-out test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Baseline Performance Comparison</a:t>
            </a:r>
          </a:p>
        </p:txBody>
      </p:sp>
      <p:pic>
        <p:nvPicPr>
          <p:cNvPr id="4" name="Picture 3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23560" cy="2898031"/>
          </a:xfrm>
          <a:prstGeom prst="rect">
            <a:avLst/>
          </a:prstGeom>
        </p:spPr>
      </p:pic>
      <p:pic>
        <p:nvPicPr>
          <p:cNvPr id="5" name="Picture 4" descr="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03520" cy="2733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Baseline Results: Seven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EfficientNetB4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0.8376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0.8345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17.86M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0.7898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0.7882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0.9957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23.80M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ConvNeXt-Tiny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27.90M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Xception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0.7438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0.7385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0.9946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21.07M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DenseNet121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7.14M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MobileNetV2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0.7061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0.6988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0.9923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2.39M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ResNet50 + CBAM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0.5727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0.5617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24.85M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601675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80"/>
                </a:solidFill>
              </a:defRPr>
            </a:pPr>
            <a:r>
              <a:t>Rounded values transcribed from the supplied Colab export. Use the saved comparison CSV for final unrounded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Model Size &amp; Accuracy–Efficiency View</a:t>
            </a:r>
          </a:p>
        </p:txBody>
      </p:sp>
      <p:pic>
        <p:nvPicPr>
          <p:cNvPr id="4" name="Picture 3" descr="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486400" cy="2827347"/>
          </a:xfrm>
          <a:prstGeom prst="rect">
            <a:avLst/>
          </a:prstGeom>
        </p:spPr>
      </p:pic>
      <p:pic>
        <p:nvPicPr>
          <p:cNvPr id="5" name="Picture 4" descr="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440680" cy="3453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Baseline Best-Model Candidate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926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128016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EfficientNetB4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606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Baseline 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Highest visible baseline accuracy: 0.8376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Highest visible weighted F1-score: 0.8345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Highest visible ROC-AUC: 0.9978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rial"/>
              </a:defRPr>
            </a:pPr>
            <a:r>
              <a:t>• Parameter count: 17,860,291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17320"/>
            <a:ext cx="5257800" cy="4251960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Selection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7744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Combine predictive metrics with parameter count and inference speed.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Do not use accuracy alone.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Add Module 6 inference benchmark before final submission.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892040"/>
            <a:ext cx="4023360" cy="310896"/>
          </a:xfrm>
          <a:prstGeom prst="round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VERIFY FINAL CSV + INFERENCE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Optimization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2971800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BASELINE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EfficientNetB4</a:t>
            </a:r>
          </a:p>
          <a:p>
            <a:pPr algn="ctr">
              <a:defRPr sz="1019">
                <a:solidFill>
                  <a:srgbClr val="FFFFFF"/>
                </a:solidFill>
              </a:defRPr>
            </a:pPr>
            <a:r>
              <a:t>Frozen backbone</a:t>
            </a:r>
            <a:br/>
            <a:r>
              <a:t>LR = 3e-4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828800"/>
            <a:ext cx="2011680" cy="2971800"/>
          </a:xfrm>
          <a:prstGeom prst="roundRect">
            <a:avLst/>
          </a:prstGeom>
          <a:solidFill>
            <a:srgbClr val="2D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OPT 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Fine-tuning</a:t>
            </a:r>
          </a:p>
          <a:p>
            <a:pPr algn="ctr">
              <a:defRPr sz="1019">
                <a:solidFill>
                  <a:srgbClr val="FFFFFF"/>
                </a:solidFill>
              </a:defRPr>
            </a:pPr>
            <a:r>
              <a:t>Unfreeze final 20–30 layers</a:t>
            </a:r>
            <a:br/>
            <a:r>
              <a:t>LR ≈ 1e-5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828800"/>
            <a:ext cx="2011680" cy="2971800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OPT 2</a:t>
            </a:r>
          </a:p>
          <a:p>
            <a:pPr algn="ctr">
              <a:defRPr sz="1400" b="1">
                <a:solidFill>
                  <a:srgbClr val="0D182D"/>
                </a:solidFill>
              </a:defRPr>
            </a:pPr>
            <a:r>
              <a:t>Learning-rate optimization</a:t>
            </a:r>
          </a:p>
          <a:p>
            <a:pPr algn="ctr">
              <a:defRPr sz="1019">
                <a:solidFill>
                  <a:srgbClr val="0D182D"/>
                </a:solidFill>
              </a:defRPr>
            </a:pPr>
            <a:r>
              <a:t>Compare schedules</a:t>
            </a:r>
            <a:br/>
            <a:r>
              <a:t>+ convergence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2011680" cy="2971800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OPT 3</a:t>
            </a:r>
          </a:p>
          <a:p>
            <a:pPr algn="ctr">
              <a:defRPr sz="1400" b="1">
                <a:solidFill>
                  <a:srgbClr val="0D182D"/>
                </a:solidFill>
              </a:defRPr>
            </a:pPr>
            <a:r>
              <a:t>Regularization / augmentation</a:t>
            </a:r>
          </a:p>
          <a:p>
            <a:pPr algn="ctr">
              <a:defRPr sz="1019">
                <a:solidFill>
                  <a:srgbClr val="0D182D"/>
                </a:solidFill>
              </a:defRPr>
            </a:pPr>
            <a:r>
              <a:t>Tune dropout + augmentation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828800"/>
            <a:ext cx="2011680" cy="2971800"/>
          </a:xfrm>
          <a:prstGeom prst="round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FINAL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Optimized model</a:t>
            </a:r>
          </a:p>
          <a:p>
            <a:pPr algn="ctr">
              <a:defRPr sz="1019">
                <a:solidFill>
                  <a:srgbClr val="FFFFFF"/>
                </a:solidFill>
              </a:defRPr>
            </a:pPr>
            <a:r>
              <a:t>Retest +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5257800"/>
            <a:ext cx="4937760" cy="310896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Only executed results should be presented as optimization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Optimization Results: Baseline → Final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0876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Inference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18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Baseline EfficientNetB4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0.8376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0.8345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0.9978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Optimization 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Run / insert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Optimization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Run /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Optimization 3 / Final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[insert]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Run / insert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80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Report reason + configuration for each technique.</a:t>
            </a:r>
          </a:p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Use the same held-out test set for every stage.</a:t>
            </a:r>
          </a:p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Add best validation epoch, training duration and saved checkpoint.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Explainable AI (XAI)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011680" cy="310896"/>
          </a:xfrm>
          <a:prstGeom prst="round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Grad-CAM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B36"/>
                </a:solidFill>
              </a:defRPr>
            </a:pPr>
            <a:r>
              <a:t>Gradient-based heatmap over a convolutional feature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7960" y="1645920"/>
            <a:ext cx="2011680" cy="310896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Occlusion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B36"/>
                </a:solidFill>
              </a:defRPr>
            </a:pPr>
            <a:r>
              <a:t>Mask patches and measure the change in target-class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Include easy correct, difficult correct, and incorrect examples.</a:t>
            </a:r>
          </a:p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Interpret whether highlighted areas correspond to athlete, equipment, activity or background.</a:t>
            </a:r>
          </a:p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The supplied export showed a Keras nested-model graph issue in the original direct-backbone Grad-CAM implementation.</a:t>
            </a:r>
          </a:p>
          <a:p>
            <a:pPr>
              <a:spcAft>
                <a:spcPts val="800"/>
              </a:spcAft>
              <a:defRPr sz="1300">
                <a:solidFill>
                  <a:srgbClr val="212B36"/>
                </a:solidFill>
                <a:latin typeface="Arial"/>
              </a:defRPr>
            </a:pPr>
            <a:r>
              <a:t>• If a saliency method is used instead, label it as saliency—not Grad-CAM.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Key Findings, Limitations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64008" cy="114300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1790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83.76%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Best visible baseline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64008" cy="1143000"/>
          </a:xfrm>
          <a:prstGeom prst="rect">
            <a:avLst/>
          </a:prstGeom>
          <a:solidFill>
            <a:srgbClr val="30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51790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08483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Invalid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3716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64008" cy="1143000"/>
          </a:xfrm>
          <a:prstGeom prst="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3328" y="151790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08483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Exact duplicates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3716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1371600"/>
            <a:ext cx="64008" cy="1143000"/>
          </a:xfrm>
          <a:prstGeom prst="rect">
            <a:avLst/>
          </a:prstGeom>
          <a:solidFill>
            <a:srgbClr val="F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8" y="151790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82D"/>
                </a:solidFill>
                <a:latin typeface="Arial"/>
              </a:defRPr>
            </a:pPr>
            <a:r>
              <a:t>2.39M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08483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C80"/>
                </a:solidFill>
                <a:latin typeface="Arial"/>
              </a:defRPr>
            </a:pPr>
            <a:r>
              <a:t>MobileNetV2 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26080"/>
            <a:ext cx="10607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B36"/>
                </a:solidFill>
                <a:latin typeface="Arial"/>
              </a:defRPr>
            </a:pPr>
            <a:r>
              <a:t>• EfficientNetB4 led the visible baseline accuracy, F1-score and ROC-AUC.</a:t>
            </a:r>
          </a:p>
          <a:p>
            <a:pPr>
              <a:spcAft>
                <a:spcPts val="800"/>
              </a:spcAft>
              <a:defRPr sz="1400">
                <a:solidFill>
                  <a:srgbClr val="212B36"/>
                </a:solidFill>
                <a:latin typeface="Arial"/>
              </a:defRPr>
            </a:pPr>
            <a:r>
              <a:t>• MobileNetV2 had the smallest parameter count among the seven models.</a:t>
            </a:r>
          </a:p>
          <a:p>
            <a:pPr>
              <a:spcAft>
                <a:spcPts val="800"/>
              </a:spcAft>
              <a:defRPr sz="1400">
                <a:solidFill>
                  <a:srgbClr val="212B36"/>
                </a:solidFill>
                <a:latin typeface="Arial"/>
              </a:defRPr>
            </a:pPr>
            <a:r>
              <a:t>• CBAM did not improve ResNet50 in the one-epoch baseline run.</a:t>
            </a:r>
          </a:p>
          <a:p>
            <a:pPr>
              <a:spcAft>
                <a:spcPts val="800"/>
              </a:spcAft>
              <a:defRPr sz="1400">
                <a:solidFill>
                  <a:srgbClr val="212B36"/>
                </a:solidFill>
                <a:latin typeface="Arial"/>
              </a:defRPr>
            </a:pPr>
            <a:r>
              <a:t>• Limitations: one-epoch baseline, exact-duplicate-only cleaning, and incomplete optimization/XAI evidence in the supplied export.</a:t>
            </a:r>
          </a:p>
          <a:p>
            <a:pPr>
              <a:spcAft>
                <a:spcPts val="800"/>
              </a:spcAft>
              <a:defRPr sz="1400">
                <a:solidFill>
                  <a:srgbClr val="212B36"/>
                </a:solidFill>
                <a:latin typeface="Arial"/>
              </a:defRPr>
            </a:pPr>
            <a:r>
              <a:t>• Future: near-duplicate checks, longer repeated training, FLOPs/memory/energy profiling, and transformer extensions.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82D"/>
                </a:solidFill>
                <a:latin typeface="Arial"/>
              </a:defRPr>
            </a:pPr>
            <a:r>
              <a:t>References &amp; Final 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Kaggle – 100 Sports Image Classification: https://www.kaggle.com/datasets/gpiosenka/sports-classification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He et al. (2016), Deep Residual Learning for Image Recognition, CVPR.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Tan &amp; Le (2019), EfficientNet, ICML.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Liu et al. (2022), A ConvNet for the 2020s, CVPR.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Sandler et al. (2018), MobileNetV2, CVPR.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Chollet (2017), Xception, CVPR.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Huang et al. (2017), DenseNet, CVPR.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Woo et al. (2018), CBAM, ECCV.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Selvaraju et al. (2017), Grad-CAM, ICCV.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371600"/>
            <a:ext cx="4069080" cy="4526280"/>
          </a:xfrm>
          <a:prstGeom prst="round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79" y="16916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267712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E0E8F2"/>
                </a:solidFill>
              </a:defRPr>
            </a:pPr>
            <a:r>
              <a:t>✓  Exact GPU + inference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788920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E0E8F2"/>
                </a:solidFill>
              </a:defRPr>
            </a:pPr>
            <a:r>
              <a:t>✓  Full class-distribution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310128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E0E8F2"/>
                </a:solidFill>
              </a:defRPr>
            </a:pPr>
            <a:r>
              <a:t>✓  Optimization 1–3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831335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E0E8F2"/>
                </a:solidFill>
              </a:defRPr>
            </a:pPr>
            <a:r>
              <a:t>✓  Baseline vs final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352544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E0E8F2"/>
                </a:solidFill>
              </a:defRPr>
            </a:pPr>
            <a:r>
              <a:t>✓  2+ XAI visualizations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873752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E0E8F2"/>
                </a:solidFill>
              </a:defRPr>
            </a:pPr>
            <a:r>
              <a:t>✓  Replace all placeholders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5440680"/>
            <a:ext cx="3200400" cy="310896"/>
          </a:xfrm>
          <a:prstGeom prst="roundRect">
            <a:avLst/>
          </a:prstGeom>
          <a:solidFill>
            <a:srgbClr val="68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182D"/>
                </a:solidFill>
                <a:latin typeface="Arial"/>
              </a:defRPr>
            </a:pPr>
            <a:r>
              <a:t>READY TO IMPORT INTO CANVA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80"/>
                </a:solidFill>
                <a:latin typeface="Arial"/>
              </a:defRPr>
            </a:pPr>
            <a:r>
              <a:t>Sports Image Classification  •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1227</Words>
  <Application>Microsoft Office PowerPoint</Application>
  <PresentationFormat>Widescreen</PresentationFormat>
  <Paragraphs>299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kundhan pottapinjara</dc:creator>
  <cp:keywords/>
  <dc:description>generated using python-pptx</dc:description>
  <cp:lastModifiedBy>kundhan pottapinjara</cp:lastModifiedBy>
  <cp:revision>2</cp:revision>
  <dcterms:created xsi:type="dcterms:W3CDTF">2013-01-27T09:14:16Z</dcterms:created>
  <dcterms:modified xsi:type="dcterms:W3CDTF">2026-09-17T17:34:58Z</dcterms:modified>
  <cp:category/>
</cp:coreProperties>
</file>